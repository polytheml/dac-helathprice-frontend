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Poisson+GBR</c:v>
                </c:pt>
              </c:strCache>
            </c:strRef>
          </c:tx>
          <c:spPr>
            <a:solidFill>
              <a:srgbClr val="1E40AF"/>
            </a:solidFill>
            <a:ln w="25400" cap="flat">
              <a:solidFill>
                <a:srgbClr val="1E40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0AF"/>
              </a:solidFill>
              <a:ln w="9525" cap="flat">
                <a:solidFill>
                  <a:srgbClr val="1E40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55</c:v>
                  </c:pt>
                  <c:pt idx="8">
                    <c:v>60</c:v>
                  </c:pt>
                  <c:pt idx="9">
                    <c:v>65</c:v>
                  </c:pt>
                  <c:pt idx="10">
                    <c:v>70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269</c:v>
                </c:pt>
                <c:pt idx="1">
                  <c:v>181</c:v>
                </c:pt>
                <c:pt idx="2">
                  <c:v>217</c:v>
                </c:pt>
                <c:pt idx="3">
                  <c:v>273</c:v>
                </c:pt>
                <c:pt idx="4">
                  <c:v>233</c:v>
                </c:pt>
                <c:pt idx="5">
                  <c:v>382</c:v>
                </c:pt>
                <c:pt idx="6">
                  <c:v>336</c:v>
                </c:pt>
                <c:pt idx="7">
                  <c:v>323</c:v>
                </c:pt>
                <c:pt idx="8">
                  <c:v>352</c:v>
                </c:pt>
                <c:pt idx="9">
                  <c:v>436</c:v>
                </c:pt>
                <c:pt idx="10">
                  <c:v>365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Poisson+Gamma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55</c:v>
                  </c:pt>
                  <c:pt idx="8">
                    <c:v>60</c:v>
                  </c:pt>
                  <c:pt idx="9">
                    <c:v>65</c:v>
                  </c:pt>
                  <c:pt idx="10">
                    <c:v>70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255</c:v>
                </c:pt>
                <c:pt idx="1">
                  <c:v>270</c:v>
                </c:pt>
                <c:pt idx="2">
                  <c:v>285</c:v>
                </c:pt>
                <c:pt idx="3">
                  <c:v>301</c:v>
                </c:pt>
                <c:pt idx="4">
                  <c:v>318</c:v>
                </c:pt>
                <c:pt idx="5">
                  <c:v>336</c:v>
                </c:pt>
                <c:pt idx="6">
                  <c:v>355</c:v>
                </c:pt>
                <c:pt idx="7">
                  <c:v>375</c:v>
                </c:pt>
                <c:pt idx="8">
                  <c:v>396</c:v>
                </c:pt>
                <c:pt idx="9">
                  <c:v>418</c:v>
                </c:pt>
                <c:pt idx="10">
                  <c:v>442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Tweedie</c:v>
                </c:pt>
              </c:strCache>
            </c:strRef>
          </c:tx>
          <c:spPr>
            <a:solidFill>
              <a:srgbClr val="B07A0A"/>
            </a:solidFill>
            <a:ln w="25400" cap="flat">
              <a:solidFill>
                <a:srgbClr val="B07A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7A0A"/>
              </a:solidFill>
              <a:ln w="9525" cap="flat">
                <a:solidFill>
                  <a:srgbClr val="B07A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55</c:v>
                  </c:pt>
                  <c:pt idx="8">
                    <c:v>60</c:v>
                  </c:pt>
                  <c:pt idx="9">
                    <c:v>65</c:v>
                  </c:pt>
                  <c:pt idx="10">
                    <c:v>70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251</c:v>
                </c:pt>
                <c:pt idx="1">
                  <c:v>264</c:v>
                </c:pt>
                <c:pt idx="2">
                  <c:v>279</c:v>
                </c:pt>
                <c:pt idx="3">
                  <c:v>294</c:v>
                </c:pt>
                <c:pt idx="4">
                  <c:v>310</c:v>
                </c:pt>
                <c:pt idx="5">
                  <c:v>327</c:v>
                </c:pt>
                <c:pt idx="6">
                  <c:v>345</c:v>
                </c:pt>
                <c:pt idx="7">
                  <c:v>364</c:v>
                </c:pt>
                <c:pt idx="8">
                  <c:v>384</c:v>
                </c:pt>
                <c:pt idx="9">
                  <c:v>405</c:v>
                </c:pt>
                <c:pt idx="10">
                  <c:v>427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Neural Net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55</c:v>
                  </c:pt>
                  <c:pt idx="8">
                    <c:v>60</c:v>
                  </c:pt>
                  <c:pt idx="9">
                    <c:v>65</c:v>
                  </c:pt>
                  <c:pt idx="10">
                    <c:v>70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33</c:v>
                </c:pt>
                <c:pt idx="1">
                  <c:v>53</c:v>
                </c:pt>
                <c:pt idx="2">
                  <c:v>116</c:v>
                </c:pt>
                <c:pt idx="3">
                  <c:v>147</c:v>
                </c:pt>
                <c:pt idx="4">
                  <c:v>168</c:v>
                </c:pt>
                <c:pt idx="5">
                  <c:v>185</c:v>
                </c:pt>
                <c:pt idx="6">
                  <c:v>183</c:v>
                </c:pt>
                <c:pt idx="7">
                  <c:v>214</c:v>
                </c:pt>
                <c:pt idx="8">
                  <c:v>288</c:v>
                </c:pt>
                <c:pt idx="9">
                  <c:v>338</c:v>
                </c:pt>
                <c:pt idx="10">
                  <c:v>390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B556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Arial"/>
              </a:rPr>
              <a:t>Smoking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Poisson+Gamma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Never</c:v>
                  </c:pt>
                  <c:pt idx="1">
                    <c:v>Former</c:v>
                  </c:pt>
                  <c:pt idx="2">
                    <c:v>Current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301</c:v>
                </c:pt>
                <c:pt idx="1">
                  <c:v>393</c:v>
                </c:pt>
                <c:pt idx="2">
                  <c:v>514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Neural Net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Never</c:v>
                  </c:pt>
                  <c:pt idx="1">
                    <c:v>Former</c:v>
                  </c:pt>
                  <c:pt idx="2">
                    <c:v>Current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147</c:v>
                </c:pt>
                <c:pt idx="1">
                  <c:v>401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B556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Arial"/>
              </a:rPr>
              <a:t>Pre-existing conditions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Poisson+Gamma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301</c:v>
                </c:pt>
                <c:pt idx="1">
                  <c:v>405</c:v>
                </c:pt>
                <c:pt idx="2">
                  <c:v>544</c:v>
                </c:pt>
                <c:pt idx="3">
                  <c:v>731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5C56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5C563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54864" cy="1463040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Frequency-Severity Machine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Models for Health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Premium Pricing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Case Study of Hospital Reimbursement in Cambodia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2743200" cy="9144"/>
          </a:xfrm>
          <a:prstGeom prst="rect">
            <a:avLst/>
          </a:prstGeom>
          <a:solidFill>
            <a:srgbClr val="F5C563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Bachelor's Thesis Defense — Data Science &amp; Machine Learning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8046720" cy="438912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1887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Cambodia's healthcare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16916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16916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answer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38912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1945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1945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194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features, 4 model approaches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26974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26974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697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platform design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8046720" cy="438912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2004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2004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2004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+ sensitivity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37033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703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 in action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8046720" cy="438912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" y="42062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4206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4206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+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Cambodia's healthcare financing gap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2560320" cy="146304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Out-of-pocket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spending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560320" cy="146304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insurance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46304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population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uninsured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pricing approaches are manual, rule-based, or use simple factor tables.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ML-driven pricing tools exist for Cambodia's emerging insurance market.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scarcity makes traditional actuarial tables unreliable.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questions this thesis addresses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61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234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ML approach best predicts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IPD claim costs in Cambodia?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4 model variants on accuracy, stability, and speed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80467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377440"/>
            <a:ext cx="54864" cy="1051560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4505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423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risk factors affect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pricing?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analysis across age, smoking, exercise, conditions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566160"/>
            <a:ext cx="54864" cy="1051560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393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3611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build a production-ready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platform?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deployment with AI advisor and admin tools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IPD claims dataset — 10,000 records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records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claim 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0.177 /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severity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$3,517 / claim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/ Test split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/ 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5-fold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input features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572768"/>
            <a:ext cx="384048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572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18–75, continuous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1956816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956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19568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/ Female / Other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2340864"/>
            <a:ext cx="384048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23408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 status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23408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/ Former / Current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2724912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2724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2724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Days/week × mins/session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6320" y="3108960"/>
            <a:ext cx="384048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3108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categories incl. Retired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3493008"/>
            <a:ext cx="3840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4937760" y="3493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83680" y="34930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Cambodian regions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3877056"/>
            <a:ext cx="384048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38770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Pre-existing conditions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83680" y="38770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count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modeling approaches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Frequency-severity decomposition vs single-model vs neural network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201168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+ GBR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1280160" cy="9144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regression for frequency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GradientBoosting for severity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flexible, captures nonlinear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18872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188720"/>
            <a:ext cx="20116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+ Gamma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0" y="2103120"/>
            <a:ext cx="1280160" cy="9144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regression for frequency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GLM for severity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actuarial approach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88720"/>
            <a:ext cx="2011680" cy="54864"/>
          </a:xfrm>
          <a:prstGeom prst="rect">
            <a:avLst/>
          </a:prstGeom>
          <a:solidFill>
            <a:srgbClr val="B07A0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Tweedie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2103120"/>
            <a:ext cx="1280160" cy="9144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model predicts total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Tweedie distribution (power=1.5)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zeros naturally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118872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18872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0" y="2103120"/>
            <a:ext cx="1280160" cy="9144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228600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with two output heads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64→32 hidden layers, ReLU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complex interactions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formula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frequency-severity translates to premium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= (Frequency × Severity) × (1 + Loading) × Tier Factor × Family Factor − Deductible Credit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8046720" cy="39319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6032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560320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model → 0.08 to 0.43 claims/yr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56032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age, smoking, exercise, conditions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8046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9923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999232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model → $1,043 to $8,679/claim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99923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age, region, conditions, occupation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38144"/>
            <a:ext cx="8046720" cy="39319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3814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438144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for IPD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3438144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admin costs, profit margin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77056"/>
            <a:ext cx="8046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7705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factor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877056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0.70x → Platinum 2.10x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3877056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tier = higher coverage limits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315968"/>
            <a:ext cx="8046720" cy="39319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1596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Deductible credit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431596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$500×10% = $50 (Bronze)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431596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premium for higher deductible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deployment: Vercel + Render + Supabase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2468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246888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(Vite)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1920240" cy="9144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wizard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Navy/gold palette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1737360" cy="32004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468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188720"/>
            <a:ext cx="2468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ML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2103120"/>
            <a:ext cx="1920240" cy="9144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ML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657600"/>
            <a:ext cx="1737360" cy="32004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188720"/>
            <a:ext cx="2468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188720"/>
            <a:ext cx="2468880" cy="54864"/>
          </a:xfrm>
          <a:prstGeom prst="rect">
            <a:avLst/>
          </a:prstGeom>
          <a:solidFill>
            <a:srgbClr val="B07A0A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50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103120"/>
            <a:ext cx="1920240" cy="9144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behavior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data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657600"/>
            <a:ext cx="1737360" cy="32004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63240" y="2651760"/>
            <a:ext cx="18288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2651760"/>
            <a:ext cx="18288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 + held-out test set (2,000 records)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914400"/>
                <a:gridCol w="109728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 R² (mean±std)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R²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RMSE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MAE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 + GBR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0.028 ± 0.019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 + Gamma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0.037 ± 0.016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Tweedie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0.036 ± 0.017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 (MLP)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0.015 ± 0.022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56616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+ Gamma wins on both accuracy (R²=0.033) and stability (±0.016)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R² is expected: 84% of policyholders have zero claims — inherent stochasticity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 performs worst — insufficient data for deep learning in emerging markets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Tweedie is 40× faster than GBR with comparable accuracy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sensitivity: 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annual cost by age — 35M, non-smoker, office, Phnom Penh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097280"/>
          <a:ext cx="8046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sensitivity: risk factors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smoking and pre-existing conditions affect premiums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9728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754880" y="109728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 predicts $4 for current smokers — model failure with limited data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inputs drive pricing across models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Poisson+GBR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Poisson+Gamma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Tweedie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Exercise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Occupation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Pre-existing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GBR sees age as most important (tree-based captures age thresholds)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GLMs prioritize pre-existing conditions and smoking (multiplicative linear effects)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 spreads importance evenly — lacks signal with limited data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integrated AI agents enhance the user experience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88720"/>
            <a:ext cx="265176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advisor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optimal tier based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risk profile. Dynamically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'AI recommended' tier.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18872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18872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explainer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19202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why premium is what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is. References specific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and dollar amounts.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188720"/>
            <a:ext cx="2651760" cy="54864"/>
          </a:xfrm>
          <a:prstGeom prst="rect">
            <a:avLst/>
          </a:prstGeom>
          <a:solidFill>
            <a:srgbClr val="B07A0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suggestions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19202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Proactively suggests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optimizations. 'Quitting smoking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save you $X/year.'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API (Anthropic) — runs directly in the browser with full pricing context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F5C563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 platform walkthrough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9144"/>
          </a:xfrm>
          <a:prstGeom prst="rect">
            <a:avLst/>
          </a:prstGeom>
          <a:solidFill>
            <a:srgbClr val="F5C56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Fill demographics and health profile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recommends optimal tier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View frequency-severity breakdown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Ask the AI chatbot for advice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constraints and planned improvements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73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synthetic data — real claims would improve R²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R² on total cost due to zero-inflated target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JWT user authentication for end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hosting has cold start delays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real historical claims from insurers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Airflow for scheduled model retraining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 authentication and role-based access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additional ASEAN markets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for emerging markets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actuarial GLMs (Poisson + Gamma) outperform complex ML models when data is scarce. Model interpretability should be prioritized over flexibility in markets where regulatory transparency and explainability are critical for adoption.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5C56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5C563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9144"/>
          </a:xfrm>
          <a:prstGeom prst="rect">
            <a:avLst/>
          </a:prstGeom>
          <a:solidFill>
            <a:srgbClr val="F5C56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HealthPrice — Frequency-Severity ML Models for Insurance Pricing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Bachelor's Thesis — Data Science &amp; Machine Learning —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Frequency-Severity ML Models for Health Insurance Pricing</dc:title>
  <dc:subject>PptxGenJS Presentation</dc:subject>
  <dc:creator>DAC HealthPrice</dc:creator>
  <cp:lastModifiedBy>DAC HealthPrice</cp:lastModifiedBy>
  <cp:revision>1</cp:revision>
  <dcterms:created xsi:type="dcterms:W3CDTF">2026-03-24T02:18:55Z</dcterms:created>
  <dcterms:modified xsi:type="dcterms:W3CDTF">2026-03-24T02:18:55Z</dcterms:modified>
</cp:coreProperties>
</file>